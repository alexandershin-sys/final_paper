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4" r:id="rId4"/>
    <p:sldId id="281" r:id="rId5"/>
    <p:sldId id="282" r:id="rId6"/>
    <p:sldId id="283" r:id="rId7"/>
    <p:sldId id="284" r:id="rId8"/>
    <p:sldId id="263" r:id="rId9"/>
    <p:sldId id="260" r:id="rId10"/>
    <p:sldId id="261" r:id="rId11"/>
    <p:sldId id="259" r:id="rId12"/>
    <p:sldId id="258" r:id="rId13"/>
    <p:sldId id="265" r:id="rId14"/>
    <p:sldId id="264" r:id="rId15"/>
    <p:sldId id="262" r:id="rId16"/>
    <p:sldId id="269" r:id="rId17"/>
    <p:sldId id="267" r:id="rId18"/>
    <p:sldId id="272" r:id="rId19"/>
    <p:sldId id="277" r:id="rId20"/>
    <p:sldId id="270" r:id="rId21"/>
    <p:sldId id="273" r:id="rId22"/>
    <p:sldId id="271" r:id="rId23"/>
    <p:sldId id="275" r:id="rId24"/>
    <p:sldId id="276" r:id="rId25"/>
    <p:sldId id="278" r:id="rId26"/>
    <p:sldId id="28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4221-3172-5728-90F9-73959EEA9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495A4-5D8A-72D8-1722-E075417B1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4F1B9-BE31-86F1-C904-66F6FBB5B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BB8D-1B64-426F-B44C-BA14382B09F5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D4527-1757-8DC7-FF08-687F34497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14CCB-5037-C0C8-8160-EF9061B5E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07D57-C90B-4460-9FBE-28E4A8CE4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771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867B0-168D-3E0D-C364-2D792C9E6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4DDF4-0E8B-A53F-C3EF-A2197DB99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4E8C0-58FF-5A29-F4A7-CCF65387D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BB8D-1B64-426F-B44C-BA14382B09F5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48DC3-87A0-8498-FEF7-46B7D141D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F9527-1F1F-E1A6-81DB-B813BDC5D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07D57-C90B-4460-9FBE-28E4A8CE4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56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C3CDB-51AF-7714-0306-BF4100871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2D6BA-04DD-F2B0-C0C8-FAC6216FA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2A661-8814-0F05-28F7-F784DCBA4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BB8D-1B64-426F-B44C-BA14382B09F5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3A9F9-3F28-C20F-34B9-E6805DAE3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2C533-39FF-67EE-D3D3-C907DAF95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07D57-C90B-4460-9FBE-28E4A8CE4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86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EAD2-6E9F-95F8-5288-DA65B2E23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FF799-0E2F-981E-AD04-29207E94A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F5304-315D-F002-FA46-438301FF2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6162F-AA97-8A0E-6FA3-5BAB4AB87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BB8D-1B64-426F-B44C-BA14382B09F5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DAD79-E083-8147-811C-F3F9F1F84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44FE8-313C-5E33-2E73-FB6F59EFA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07D57-C90B-4460-9FBE-28E4A8CE4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129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AADC2-5729-1A8B-8801-C29435D88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AB79D-4D4F-9631-4381-1EF22B08C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2D556-CBEA-D0AF-DC44-31A2E6251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19A3B1-C685-333A-C1CC-D44A63A255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722C90-ACFA-732B-A216-4BE39165B6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6B269B-F071-294B-2F93-A958359C4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BB8D-1B64-426F-B44C-BA14382B09F5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1AF807-8A9C-8613-25B3-DDD9E9F9E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9ED115-A7D3-F012-7122-7F7D50BF7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07D57-C90B-4460-9FBE-28E4A8CE4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05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15AB8-C900-EE91-76D9-C7330B5C3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45E834-223C-5E2B-54EE-AB2E336FF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BB8D-1B64-426F-B44C-BA14382B09F5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2BA10E-E919-B28F-9E75-4767C6A6F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E9BCC7-E848-266D-3B3A-4744D2D44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07D57-C90B-4460-9FBE-28E4A8CE4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08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1A4A1E-C4CC-5881-0389-04CCEC90F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BB8D-1B64-426F-B44C-BA14382B09F5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7187B8-0D12-6700-96FA-3162C1A28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05351-0DAF-A510-23E8-BB5FC5EA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07D57-C90B-4460-9FBE-28E4A8CE4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174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5DF86-47A8-17FB-DFC7-688AC73DE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9089B-CA1A-0E63-6BBA-55B377930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E7DB03-20F3-3B74-788A-FC32569D3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94299-695B-EE56-8F67-BF6E87784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BB8D-1B64-426F-B44C-BA14382B09F5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72B8A-AF25-A66D-2D56-F08178D17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9AB8F-5A30-93BE-C7EF-137851092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07D57-C90B-4460-9FBE-28E4A8CE4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117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8A8AC-6239-D00B-D377-CCFE08B21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0DE846-DD7A-20CF-C965-E6D9E30601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CEB768-375A-5824-850A-3362820D2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63C25-EFAE-9C81-0399-6EA2A8A47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BB8D-1B64-426F-B44C-BA14382B09F5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DF6D6C-0C61-7FCF-45A7-DF066CF2D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E65C0-C359-4F88-680C-D432AE092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07D57-C90B-4460-9FBE-28E4A8CE4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48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CE55-EC7B-AF58-D6B0-FA03C0965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AE4192-A8BD-37EC-2614-31A8AD512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CB8CB-BB03-F4F4-BB1B-4DB8FDD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BB8D-1B64-426F-B44C-BA14382B09F5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56D4C-1313-C31A-08A7-C7CE6DB80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00AF6-6EC7-8136-D5E3-834105132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07D57-C90B-4460-9FBE-28E4A8CE4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702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74F393-3A2E-8383-6A92-E53D253770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7E4285-8045-B3A7-70FB-FF9673854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7250D-4CEC-0020-FD91-CCC6E3AAC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BB8D-1B64-426F-B44C-BA14382B09F5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CD73C-6B0C-66C7-D669-2F9AFB5F3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6F8FD-19A1-ACE1-6C02-0191A2B92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07D57-C90B-4460-9FBE-28E4A8CE4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66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CC1A6-960E-5BE3-1617-9D758AB3F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5C673-3413-0F4B-FA17-16AD3BEFB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BA67E-EAB9-84F0-F345-55C4224F64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DBB8D-1B64-426F-B44C-BA14382B09F5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D4A05-F513-3D85-A48C-9804BDFAC8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3EBAE-8931-0339-BE00-21052D81F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F07D57-C90B-4460-9FBE-28E4A8CE4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01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EDB6E-6E71-2D01-30E0-E883FCE13A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for Final Paper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61B270-1EC3-5B46-2593-64DDE30187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Alexander Shin</a:t>
            </a:r>
          </a:p>
        </p:txBody>
      </p:sp>
    </p:spTree>
    <p:extLst>
      <p:ext uri="{BB962C8B-B14F-4D97-AF65-F5344CB8AC3E}">
        <p14:creationId xmlns:p14="http://schemas.microsoft.com/office/powerpoint/2010/main" val="3543165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3A662-5906-E1F1-52FB-634FF0BC1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images in </a:t>
            </a:r>
            <a:r>
              <a:rPr lang="en-US" dirty="0" err="1"/>
              <a:t>DW_pan</a:t>
            </a:r>
            <a:r>
              <a:rPr lang="en-US" dirty="0"/>
              <a:t> dataset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737656-7B9F-7504-7399-8A029D7CB9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46559"/>
            <a:ext cx="3557023" cy="374904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9E3837-C473-E9D2-EB8E-DEEF0248D2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349" y="2046559"/>
            <a:ext cx="3557023" cy="37490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509E4B-11D0-446E-5D6F-787C85DE60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372" y="2046559"/>
            <a:ext cx="3557023" cy="374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079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CF871-A9E8-91BA-21CE-6C64DB1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Results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7083E26-A134-C19B-CEDE-43D65FBB35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6965622"/>
              </p:ext>
            </p:extLst>
          </p:nvPr>
        </p:nvGraphicFramePr>
        <p:xfrm>
          <a:off x="838200" y="1825625"/>
          <a:ext cx="104394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272266463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08881233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1451105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02543705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3399563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043855641"/>
                    </a:ext>
                  </a:extLst>
                </a:gridCol>
                <a:gridCol w="1426032">
                  <a:extLst>
                    <a:ext uri="{9D8B030D-6E8A-4147-A177-3AD203B41FA5}">
                      <a16:colId xmlns:a16="http://schemas.microsoft.com/office/drawing/2014/main" val="21548533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Paper1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Paper2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Paper3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Paper4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Paper5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DiffSize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995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diffC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0.62295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0.61475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0.762295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0.72131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0.61475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0.65801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988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0.90984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0.90164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0.91803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0.91803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0.90164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0.92208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710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0.86885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0.92362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0.88525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0.92623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0.92623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0.80952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582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Final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0.89147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0.86822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0.89922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0.88372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0.86822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0.90272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895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4974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7C6D1-1616-E5C9-A635-4F49CA2C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18A62CA-A5D6-45A9-CD17-0842C08FB2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5906632"/>
              </p:ext>
            </p:extLst>
          </p:nvPr>
        </p:nvGraphicFramePr>
        <p:xfrm>
          <a:off x="838200" y="1825625"/>
          <a:ext cx="10515603" cy="19659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378520610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11711679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46991996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18023267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1332862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64959874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600547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DiffSize1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DiffSize2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DiffSize3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DiffSize4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Paper5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DiffSize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477796"/>
                  </a:ext>
                </a:extLst>
              </a:tr>
              <a:tr h="482567">
                <a:tc>
                  <a:txBody>
                    <a:bodyPr/>
                    <a:lstStyle/>
                    <a:p>
                      <a:r>
                        <a:rPr lang="en-US" dirty="0" err="1"/>
                        <a:t>diffC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0.72294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0.73160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0.74892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0.72294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059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0.93507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0.9134199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17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300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Final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0.87549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0.914397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0.91829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0.87549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406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854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6CAD8-5672-9FAB-8BE6-52CEC8E5C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Matlab</a:t>
            </a:r>
            <a:r>
              <a:rPr lang="en-US" dirty="0"/>
              <a:t> Result (Only 2 epochs) 1 validation patience (test accuracy:  59.69)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1F6E6E-B509-CCEA-8C50-10A81CE7C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7233" y="2024580"/>
            <a:ext cx="5077534" cy="3953427"/>
          </a:xfrm>
        </p:spPr>
      </p:pic>
    </p:spTree>
    <p:extLst>
      <p:ext uri="{BB962C8B-B14F-4D97-AF65-F5344CB8AC3E}">
        <p14:creationId xmlns:p14="http://schemas.microsoft.com/office/powerpoint/2010/main" val="2124468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02A10-4AF5-0DAE-E53E-449622A31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51B0B-AA59-A624-6DF7-2E1E13823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Matlab</a:t>
            </a:r>
            <a:r>
              <a:rPr lang="en-US" dirty="0"/>
              <a:t> Result (Only 2 epochs) 1 validation patience (test accuracy:  59.69)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74369C4-B4EF-5233-1899-2B965D332B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1522" y="2048396"/>
            <a:ext cx="5048955" cy="3905795"/>
          </a:xfrm>
        </p:spPr>
      </p:pic>
    </p:spTree>
    <p:extLst>
      <p:ext uri="{BB962C8B-B14F-4D97-AF65-F5344CB8AC3E}">
        <p14:creationId xmlns:p14="http://schemas.microsoft.com/office/powerpoint/2010/main" val="1283111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B13EE-41EC-C0D4-818F-F910EA5BF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53432-3BAC-9C6C-E9D1-241DBC933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Matlab</a:t>
            </a:r>
            <a:r>
              <a:rPr lang="en-US" dirty="0"/>
              <a:t> Result (Only 2 epochs) 1 validation patience (test accuracy: 59.69% )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6509C194-3573-18A7-0EF4-8A25287B0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3917" y="2029344"/>
            <a:ext cx="4944165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081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18BD4-D4AC-04E1-72FB-EA2BCEC9D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A457E-FDD2-369D-7EB2-7318172CF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run (Paper Settings), final acc: 0.9380</a:t>
            </a:r>
            <a:br>
              <a:rPr lang="en-US" dirty="0"/>
            </a:br>
            <a:r>
              <a:rPr lang="en-US" dirty="0"/>
              <a:t>(Opera)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D4A37B9F-DF61-DF04-20F4-C927D82477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2787" y="1839119"/>
            <a:ext cx="5686425" cy="4324350"/>
          </a:xfrm>
          <a:prstGeom prst="rect">
            <a:avLst/>
          </a:prstGeom>
        </p:spPr>
      </p:pic>
      <p:pic>
        <p:nvPicPr>
          <p:cNvPr id="3074" name="Picture 2" descr="Opera (web browser) - Wikipedia">
            <a:extLst>
              <a:ext uri="{FF2B5EF4-FFF2-40B4-BE49-F238E27FC236}">
                <a16:creationId xmlns:a16="http://schemas.microsoft.com/office/drawing/2014/main" id="{663473E3-0985-8772-9421-72728FC23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726" y="2377440"/>
            <a:ext cx="2454434" cy="2454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331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70D1C-19A8-469C-4BC0-AA7081286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7ADA3-AAE0-D46F-9E1B-49E05985B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run (Paper Settings), final acc:.9692</a:t>
            </a:r>
            <a:br>
              <a:rPr lang="en-US" dirty="0"/>
            </a:br>
            <a:r>
              <a:rPr lang="en-US" dirty="0"/>
              <a:t>(chrome)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AD79DE7E-4615-88C8-49A8-F51B1FBF86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7550" y="1834356"/>
            <a:ext cx="5676900" cy="4333875"/>
          </a:xfrm>
          <a:prstGeom prst="rect">
            <a:avLst/>
          </a:prstGeom>
        </p:spPr>
      </p:pic>
      <p:pic>
        <p:nvPicPr>
          <p:cNvPr id="2050" name="Picture 2" descr="Google Chrome - Wikipedia">
            <a:extLst>
              <a:ext uri="{FF2B5EF4-FFF2-40B4-BE49-F238E27FC236}">
                <a16:creationId xmlns:a16="http://schemas.microsoft.com/office/drawing/2014/main" id="{BFEE06F9-1A08-80FC-719E-B5AB1D417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28" y="2862072"/>
            <a:ext cx="2697480" cy="2697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6316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332CE-99B9-6EB4-76B5-0ABB8A38F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C3167-5594-5383-87EA-972611FB8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run (Paper Settings), final acc:.9846</a:t>
            </a:r>
            <a:br>
              <a:rPr lang="en-US" dirty="0"/>
            </a:br>
            <a:r>
              <a:rPr lang="en-US" dirty="0"/>
              <a:t>(chrome)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17A2524-FA4E-8D13-656C-5C115EE77F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7550" y="1834356"/>
            <a:ext cx="5676900" cy="4333875"/>
          </a:xfrm>
          <a:prstGeom prst="rect">
            <a:avLst/>
          </a:prstGeom>
        </p:spPr>
      </p:pic>
      <p:pic>
        <p:nvPicPr>
          <p:cNvPr id="6" name="Picture 2" descr="Google Chrome - Wikipedia">
            <a:extLst>
              <a:ext uri="{FF2B5EF4-FFF2-40B4-BE49-F238E27FC236}">
                <a16:creationId xmlns:a16="http://schemas.microsoft.com/office/drawing/2014/main" id="{C04C2A28-4C08-06FF-5D7D-AA9BADBCC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70" y="2272284"/>
            <a:ext cx="2697480" cy="2697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3688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E8960-5B29-2A3A-BE45-FF197DB4B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069E2-82D3-8CFD-CF65-C5CF0878B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run (Paper Settings), final acc:~.9531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firefox</a:t>
            </a:r>
            <a:r>
              <a:rPr lang="en-US" dirty="0"/>
              <a:t>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4B901F-D011-BB87-3762-5CB5F2EEF4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0496" y="1915028"/>
            <a:ext cx="5611008" cy="4172532"/>
          </a:xfrm>
        </p:spPr>
      </p:pic>
      <p:pic>
        <p:nvPicPr>
          <p:cNvPr id="8194" name="Picture 2" descr="Firefox - Wikipedia">
            <a:extLst>
              <a:ext uri="{FF2B5EF4-FFF2-40B4-BE49-F238E27FC236}">
                <a16:creationId xmlns:a16="http://schemas.microsoft.com/office/drawing/2014/main" id="{AAC047D3-267C-DE0A-D190-5B5D0BECD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21" y="2338137"/>
            <a:ext cx="2835442" cy="2835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4884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B93B-2218-C78E-B78C-96C2EB692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run (Paper Settings), final acc:.9457 (edge)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88D8FA-1928-F4A1-8FFB-B37B89A4E2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591955" cy="4286848"/>
          </a:xfrm>
        </p:spPr>
      </p:pic>
      <p:pic>
        <p:nvPicPr>
          <p:cNvPr id="5122" name="Picture 2" descr="Microsoft Edge for Android - Download the APK from Uptodown">
            <a:extLst>
              <a:ext uri="{FF2B5EF4-FFF2-40B4-BE49-F238E27FC236}">
                <a16:creationId xmlns:a16="http://schemas.microsoft.com/office/drawing/2014/main" id="{D08AF910-AABA-BA38-51EB-8A82BA9BF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216" y="2332121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1802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C91CF-747B-F3EC-0530-D5C826422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8A097-199D-9D5B-9213-65AC2BE2A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run (Different sizes), final acc:0.9483</a:t>
            </a:r>
            <a:br>
              <a:rPr lang="en-US" dirty="0"/>
            </a:br>
            <a:r>
              <a:rPr lang="en-US" dirty="0"/>
              <a:t>(chrome)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ECA5B878-9B15-0D1B-7124-04E5978837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4687" y="1834356"/>
            <a:ext cx="5762625" cy="4333875"/>
          </a:xfrm>
          <a:prstGeom prst="rect">
            <a:avLst/>
          </a:prstGeom>
        </p:spPr>
      </p:pic>
      <p:pic>
        <p:nvPicPr>
          <p:cNvPr id="5" name="Picture 2" descr="Google Chrome - Wikipedia">
            <a:extLst>
              <a:ext uri="{FF2B5EF4-FFF2-40B4-BE49-F238E27FC236}">
                <a16:creationId xmlns:a16="http://schemas.microsoft.com/office/drawing/2014/main" id="{4EBE71DA-C866-C064-31D8-B19B2DEAC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" y="2505456"/>
            <a:ext cx="2697480" cy="2697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0604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64E9E-48AB-7C1A-D767-7F4C026C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5BB82-AEEA-9958-6CD2-A08ABE8E3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run (Different sizes), final acc:0.9663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firefox</a:t>
            </a:r>
            <a:r>
              <a:rPr lang="en-US" dirty="0"/>
              <a:t>)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D91F896B-0CA6-F4C4-CE35-D6FB63E764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9925" y="1839119"/>
            <a:ext cx="5772150" cy="4324350"/>
          </a:xfrm>
          <a:prstGeom prst="rect">
            <a:avLst/>
          </a:prstGeom>
        </p:spPr>
      </p:pic>
      <p:pic>
        <p:nvPicPr>
          <p:cNvPr id="5" name="Picture 2" descr="Firefox - Wikipedia">
            <a:extLst>
              <a:ext uri="{FF2B5EF4-FFF2-40B4-BE49-F238E27FC236}">
                <a16:creationId xmlns:a16="http://schemas.microsoft.com/office/drawing/2014/main" id="{FB519B28-ABFE-FE3E-0BDC-85C973A1B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74" y="2370221"/>
            <a:ext cx="2835442" cy="2835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502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0ADB1-FAB4-2CCF-5561-E6A6C2A85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509D3-4C05-2F48-6A94-A90C8189C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run (Different sizes), final acc:0.9508 (edge)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061D6A-D617-D3C4-0D80-A418EC2C41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4687" y="1834356"/>
            <a:ext cx="5762625" cy="4333875"/>
          </a:xfrm>
          <a:prstGeom prst="rect">
            <a:avLst/>
          </a:prstGeom>
        </p:spPr>
      </p:pic>
      <p:pic>
        <p:nvPicPr>
          <p:cNvPr id="13314" name="Picture 2" descr="Microsoft Edge for Android - Download the APK from Uptodown">
            <a:extLst>
              <a:ext uri="{FF2B5EF4-FFF2-40B4-BE49-F238E27FC236}">
                <a16:creationId xmlns:a16="http://schemas.microsoft.com/office/drawing/2014/main" id="{BB4579B6-E7FA-A9BE-4629-79787064D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48793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18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7216F-CCA3-3D9E-F55C-9A594A2D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3DCC5-27AF-B7C4-24B7-F6E8DF4E8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run (Different </a:t>
            </a:r>
            <a:r>
              <a:rPr lang="en-US" dirty="0" err="1"/>
              <a:t>lr</a:t>
            </a:r>
            <a:r>
              <a:rPr lang="en-US" dirty="0"/>
              <a:t>), final acc: 1</a:t>
            </a:r>
            <a:br>
              <a:rPr lang="en-US" dirty="0"/>
            </a:br>
            <a:r>
              <a:rPr lang="en-US" dirty="0"/>
              <a:t>(Firefox)</a:t>
            </a:r>
          </a:p>
        </p:txBody>
      </p:sp>
      <p:pic>
        <p:nvPicPr>
          <p:cNvPr id="5" name="Picture 2" descr="Firefox - Wikipedia">
            <a:extLst>
              <a:ext uri="{FF2B5EF4-FFF2-40B4-BE49-F238E27FC236}">
                <a16:creationId xmlns:a16="http://schemas.microsoft.com/office/drawing/2014/main" id="{273600E5-A148-ED74-0425-065085C2F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74" y="2583573"/>
            <a:ext cx="2835442" cy="2835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D0DFAE7-E534-A55A-F021-F08FE289C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57550" y="1834356"/>
            <a:ext cx="567690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119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E9D7F-9476-8A69-75B1-E63962A1B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78CF2-8278-09B2-CA87-55DA0B792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run (Different </a:t>
            </a:r>
            <a:r>
              <a:rPr lang="en-US" dirty="0" err="1"/>
              <a:t>lr</a:t>
            </a:r>
            <a:r>
              <a:rPr lang="en-US" dirty="0"/>
              <a:t>), final acc: 0.9922</a:t>
            </a:r>
            <a:br>
              <a:rPr lang="en-US" dirty="0"/>
            </a:br>
            <a:r>
              <a:rPr lang="en-US" dirty="0"/>
              <a:t>(Edge)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801135DD-A7B2-6E29-908C-2A02AE5D7CD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082" y="1921030"/>
            <a:ext cx="5449835" cy="4160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Microsoft Edge for Android - Download the APK from Uptodown">
            <a:extLst>
              <a:ext uri="{FF2B5EF4-FFF2-40B4-BE49-F238E27FC236}">
                <a16:creationId xmlns:a16="http://schemas.microsoft.com/office/drawing/2014/main" id="{B5B97D04-831C-1814-EB65-5E6526B1F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48793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2183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0A6FF-BC2B-AD61-9424-D02DD0297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EED3D-DE8C-D831-DF55-38A64803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run (diff </a:t>
            </a:r>
            <a:r>
              <a:rPr lang="en-US" dirty="0" err="1"/>
              <a:t>lr</a:t>
            </a:r>
            <a:r>
              <a:rPr lang="en-US" dirty="0"/>
              <a:t>), final acc:1.0</a:t>
            </a:r>
            <a:br>
              <a:rPr lang="en-US" dirty="0"/>
            </a:br>
            <a:r>
              <a:rPr lang="en-US" dirty="0"/>
              <a:t>(Chrome)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590E6101-A702-B063-7C5A-B50C86DBCB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082" y="1921030"/>
            <a:ext cx="5449835" cy="4160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Google Chrome - Wikipedia">
            <a:extLst>
              <a:ext uri="{FF2B5EF4-FFF2-40B4-BE49-F238E27FC236}">
                <a16:creationId xmlns:a16="http://schemas.microsoft.com/office/drawing/2014/main" id="{D3F233B0-37A7-8ABE-A734-9BAE4E9E1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776" y="2496874"/>
            <a:ext cx="2697480" cy="2697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513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A19D6-9FFE-A1D3-F4CE-308B79EFA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7A5C1-81A3-1357-CAF4-6A1CF2DC2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run (diff </a:t>
            </a:r>
            <a:r>
              <a:rPr lang="en-US" dirty="0" err="1"/>
              <a:t>lr</a:t>
            </a:r>
            <a:r>
              <a:rPr lang="en-US" dirty="0"/>
              <a:t>), final acc:0.9923</a:t>
            </a:r>
            <a:br>
              <a:rPr lang="en-US" dirty="0"/>
            </a:br>
            <a:r>
              <a:rPr lang="en-US" dirty="0"/>
              <a:t>(Chrome)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6CCC14B-DAB7-9785-9E92-EEB506DDE42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082" y="1872904"/>
            <a:ext cx="5449835" cy="4160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Google Chrome - Wikipedia">
            <a:extLst>
              <a:ext uri="{FF2B5EF4-FFF2-40B4-BE49-F238E27FC236}">
                <a16:creationId xmlns:a16="http://schemas.microsoft.com/office/drawing/2014/main" id="{F8753496-475D-C57E-BB6E-FD9A2AE4A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776" y="2496874"/>
            <a:ext cx="2697480" cy="2697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4052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87172-F5B3-AF0E-802D-9224F31E5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5104A-65FE-54D8-4F86-A575C935C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Fourth run (Different epochs), final acc:0.938</a:t>
            </a:r>
            <a:br>
              <a:rPr lang="en-US" dirty="0"/>
            </a:br>
            <a:r>
              <a:rPr lang="en-US" dirty="0"/>
              <a:t>(Firefox)</a:t>
            </a:r>
          </a:p>
        </p:txBody>
      </p:sp>
      <p:pic>
        <p:nvPicPr>
          <p:cNvPr id="5" name="Picture 2" descr="Firefox - Wikipedia">
            <a:extLst>
              <a:ext uri="{FF2B5EF4-FFF2-40B4-BE49-F238E27FC236}">
                <a16:creationId xmlns:a16="http://schemas.microsoft.com/office/drawing/2014/main" id="{C85EDE4B-D802-CFDD-40F5-75A1EC080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32" y="2306053"/>
            <a:ext cx="2835442" cy="2835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DD72BD92-B647-BBA5-5DD7-F0310FB53A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04785" y="1867396"/>
            <a:ext cx="5582429" cy="4267796"/>
          </a:xfrm>
        </p:spPr>
      </p:pic>
    </p:spTree>
    <p:extLst>
      <p:ext uri="{BB962C8B-B14F-4D97-AF65-F5344CB8AC3E}">
        <p14:creationId xmlns:p14="http://schemas.microsoft.com/office/powerpoint/2010/main" val="1838157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39DA3-6079-9DC2-44CC-C76B35C2F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90F8B-05E0-566C-76D0-93CE38024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Fourth run (Different epochs), final acc:0.969</a:t>
            </a:r>
            <a:br>
              <a:rPr lang="en-US" dirty="0"/>
            </a:br>
            <a:r>
              <a:rPr lang="en-US" dirty="0"/>
              <a:t>(Firefox)</a:t>
            </a:r>
          </a:p>
        </p:txBody>
      </p:sp>
      <p:pic>
        <p:nvPicPr>
          <p:cNvPr id="5" name="Picture 2" descr="Firefox - Wikipedia">
            <a:extLst>
              <a:ext uri="{FF2B5EF4-FFF2-40B4-BE49-F238E27FC236}">
                <a16:creationId xmlns:a16="http://schemas.microsoft.com/office/drawing/2014/main" id="{57A0558A-06BF-6615-908F-C73CE295B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32" y="2306053"/>
            <a:ext cx="2835442" cy="2835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CDA8104-BB58-8C81-CCB0-E85BBC563E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00022" y="1857870"/>
            <a:ext cx="5591955" cy="4286848"/>
          </a:xfrm>
        </p:spPr>
      </p:pic>
    </p:spTree>
    <p:extLst>
      <p:ext uri="{BB962C8B-B14F-4D97-AF65-F5344CB8AC3E}">
        <p14:creationId xmlns:p14="http://schemas.microsoft.com/office/powerpoint/2010/main" val="263482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7CEAE-324E-842E-F364-C8475CA07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3D137-E083-7C25-4467-FD8D942A8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Fourth run (Different epoch), final acc:0.9535</a:t>
            </a:r>
            <a:br>
              <a:rPr lang="en-US" dirty="0"/>
            </a:br>
            <a:r>
              <a:rPr lang="en-US" dirty="0"/>
              <a:t>(Opera)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821015-0FAE-C054-5CC0-5F0E78CCE6C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082" y="1921030"/>
            <a:ext cx="5449835" cy="4160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Opera (web browser) - Wikipedia">
            <a:extLst>
              <a:ext uri="{FF2B5EF4-FFF2-40B4-BE49-F238E27FC236}">
                <a16:creationId xmlns:a16="http://schemas.microsoft.com/office/drawing/2014/main" id="{6B056923-66E2-87DB-2DEA-928569CD4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18" y="2441448"/>
            <a:ext cx="2454434" cy="2454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651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0FE21-A140-CE49-0FA3-39CB6BBC6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C4CB6-C05B-B680-89F8-AE17CF237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Fourth run (Different epochs), final acc: 0.9535</a:t>
            </a:r>
            <a:br>
              <a:rPr lang="en-US" dirty="0"/>
            </a:br>
            <a:r>
              <a:rPr lang="en-US" dirty="0"/>
              <a:t>(Edge)</a:t>
            </a:r>
          </a:p>
        </p:txBody>
      </p:sp>
      <p:pic>
        <p:nvPicPr>
          <p:cNvPr id="3" name="Picture 2" descr="Microsoft Edge for Android - Download the APK from Uptodown">
            <a:extLst>
              <a:ext uri="{FF2B5EF4-FFF2-40B4-BE49-F238E27FC236}">
                <a16:creationId xmlns:a16="http://schemas.microsoft.com/office/drawing/2014/main" id="{576D461E-8110-7CA3-4FB6-4BDBBB450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48793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2" name="Picture 2">
            <a:extLst>
              <a:ext uri="{FF2B5EF4-FFF2-40B4-BE49-F238E27FC236}">
                <a16:creationId xmlns:a16="http://schemas.microsoft.com/office/drawing/2014/main" id="{565489FD-B37A-7005-F68C-618AB9A1F0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082" y="1921030"/>
            <a:ext cx="5449835" cy="4160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4123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BCCD4-3554-A42F-73D3-CA8128146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4CF65-75E7-4451-5F4A-38F72830C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Fifth run (Different </a:t>
            </a:r>
            <a:r>
              <a:rPr lang="en-US" dirty="0" err="1"/>
              <a:t>lr</a:t>
            </a:r>
            <a:r>
              <a:rPr lang="en-US" dirty="0"/>
              <a:t>(big), final acc: 0.6124</a:t>
            </a:r>
            <a:br>
              <a:rPr lang="en-US" dirty="0"/>
            </a:br>
            <a:r>
              <a:rPr lang="en-US" dirty="0"/>
              <a:t>(Edge)</a:t>
            </a:r>
          </a:p>
        </p:txBody>
      </p:sp>
      <p:pic>
        <p:nvPicPr>
          <p:cNvPr id="3" name="Picture 2" descr="Microsoft Edge for Android - Download the APK from Uptodown">
            <a:extLst>
              <a:ext uri="{FF2B5EF4-FFF2-40B4-BE49-F238E27FC236}">
                <a16:creationId xmlns:a16="http://schemas.microsoft.com/office/drawing/2014/main" id="{A8A78773-0014-96CE-C9F2-E01A4F72C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48793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120733-B9EB-5D72-D121-C88F441D62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57550" y="1834356"/>
            <a:ext cx="567690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72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0BF4F-8B89-1919-BAC2-6C0CA7269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9BD57-76ED-3D2B-7CFD-45E1443FD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Fifth run (Different </a:t>
            </a:r>
            <a:r>
              <a:rPr lang="en-US" dirty="0" err="1"/>
              <a:t>lr</a:t>
            </a:r>
            <a:r>
              <a:rPr lang="en-US" dirty="0"/>
              <a:t>(big), final acc: 0.4961</a:t>
            </a:r>
            <a:br>
              <a:rPr lang="en-US" dirty="0"/>
            </a:br>
            <a:r>
              <a:rPr lang="en-US" dirty="0"/>
              <a:t>(Chrome)</a:t>
            </a:r>
          </a:p>
        </p:txBody>
      </p:sp>
      <p:pic>
        <p:nvPicPr>
          <p:cNvPr id="7" name="Picture 6" descr="Google Chrome - Wikipedia">
            <a:extLst>
              <a:ext uri="{FF2B5EF4-FFF2-40B4-BE49-F238E27FC236}">
                <a16:creationId xmlns:a16="http://schemas.microsoft.com/office/drawing/2014/main" id="{16747FC5-358F-FBE5-373F-9EA87F8F4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450" y="2652554"/>
            <a:ext cx="2697480" cy="2697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0" name="Picture 2">
            <a:extLst>
              <a:ext uri="{FF2B5EF4-FFF2-40B4-BE49-F238E27FC236}">
                <a16:creationId xmlns:a16="http://schemas.microsoft.com/office/drawing/2014/main" id="{75791D3A-B604-1303-1192-9AF248EE48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082" y="1921030"/>
            <a:ext cx="5449835" cy="4160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56737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0B5BD-BF2F-3CED-9622-A1AFA3E7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355CA-F126-D631-FF12-E7BD00B82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Fifth run (Different </a:t>
            </a:r>
            <a:r>
              <a:rPr lang="en-US" dirty="0" err="1"/>
              <a:t>lr</a:t>
            </a:r>
            <a:r>
              <a:rPr lang="en-US" dirty="0"/>
              <a:t>(big), final acc: 0.8915</a:t>
            </a:r>
            <a:br>
              <a:rPr lang="en-US" dirty="0"/>
            </a:br>
            <a:r>
              <a:rPr lang="en-US" dirty="0"/>
              <a:t>(Chrome)</a:t>
            </a:r>
          </a:p>
        </p:txBody>
      </p:sp>
      <p:pic>
        <p:nvPicPr>
          <p:cNvPr id="3" name="Picture 2" descr="Google Chrome - Wikipedia">
            <a:extLst>
              <a:ext uri="{FF2B5EF4-FFF2-40B4-BE49-F238E27FC236}">
                <a16:creationId xmlns:a16="http://schemas.microsoft.com/office/drawing/2014/main" id="{875330CB-6CE3-705F-985E-B0BABC8D7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207" y="2849801"/>
            <a:ext cx="2697480" cy="2697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6" name="Picture 2">
            <a:extLst>
              <a:ext uri="{FF2B5EF4-FFF2-40B4-BE49-F238E27FC236}">
                <a16:creationId xmlns:a16="http://schemas.microsoft.com/office/drawing/2014/main" id="{A396F213-EAF1-00BC-18CC-88B49DAAACF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082" y="1921030"/>
            <a:ext cx="5449835" cy="4160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0557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1514</TotalTime>
  <Words>399</Words>
  <Application>Microsoft Office PowerPoint</Application>
  <PresentationFormat>Widescreen</PresentationFormat>
  <Paragraphs>88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Data for Final Paper</vt:lpstr>
      <vt:lpstr>Examples of images in DW_pan dataset</vt:lpstr>
      <vt:lpstr>SVM Results</vt:lpstr>
      <vt:lpstr>PowerPoint Presentation</vt:lpstr>
      <vt:lpstr>Matlab Result (Only 2 epochs) 1 validation patience (test accuracy:  59.69)</vt:lpstr>
      <vt:lpstr>Matlab Result (Only 2 epochs) 1 validation patience (test accuracy:  59.69)</vt:lpstr>
      <vt:lpstr>Matlab Result (Only 2 epochs) 1 validation patience (test accuracy: 59.69% )</vt:lpstr>
      <vt:lpstr>First run (Paper Settings), final acc: 0.9380 (Opera)</vt:lpstr>
      <vt:lpstr>First run (Paper Settings), final acc:.9692 (chrome)</vt:lpstr>
      <vt:lpstr>First run (Paper Settings), final acc:.9846 (chrome)</vt:lpstr>
      <vt:lpstr>First run (Paper Settings), final acc:~.9531 (firefox)</vt:lpstr>
      <vt:lpstr>First run (Paper Settings), final acc:.9457 (edge)</vt:lpstr>
      <vt:lpstr>Second run (Different sizes), final acc:0.9483 (chrome)</vt:lpstr>
      <vt:lpstr>Second run (Different sizes), final acc:0.9663 (firefox)</vt:lpstr>
      <vt:lpstr>Second run (Different sizes), final acc:0.9508 (edge)</vt:lpstr>
      <vt:lpstr>Third run (Different lr), final acc: 1 (Firefox)</vt:lpstr>
      <vt:lpstr>Third run (Different lr), final acc: 0.9922 (Edge)</vt:lpstr>
      <vt:lpstr>Third run (diff lr), final acc:1.0 (Chrome)</vt:lpstr>
      <vt:lpstr>Third run (diff lr), final acc:0.9923 (Chrome)</vt:lpstr>
      <vt:lpstr>Fourth run (Different epochs), final acc:0.938 (Firefox)</vt:lpstr>
      <vt:lpstr>Fourth run (Different epochs), final acc:0.969 (Firefox)</vt:lpstr>
      <vt:lpstr>Fourth run (Different epoch), final acc:0.9535 (Opera)</vt:lpstr>
      <vt:lpstr>Fourth run (Different epochs), final acc: 0.9535 (Edge)</vt:lpstr>
      <vt:lpstr>Fifth run (Different lr(big), final acc: 0.6124 (Edge)</vt:lpstr>
      <vt:lpstr>Fifth run (Different lr(big), final acc: 0.4961 (Chrome)</vt:lpstr>
      <vt:lpstr>Fifth run (Different lr(big), final acc: 0.8915 (Chrome)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Shin</dc:creator>
  <cp:lastModifiedBy>Alexander Shin</cp:lastModifiedBy>
  <cp:revision>1</cp:revision>
  <dcterms:created xsi:type="dcterms:W3CDTF">2025-04-29T03:54:43Z</dcterms:created>
  <dcterms:modified xsi:type="dcterms:W3CDTF">2025-04-30T05:08:53Z</dcterms:modified>
</cp:coreProperties>
</file>